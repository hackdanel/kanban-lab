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8c9f0a7-cdb3-7e37-b8e1-74ba04e5f149}">
          <p14:sldIdLst>
            <p14:sldId id="256"/>
            <p14:sldId id="257"/>
            <p14:sldId id="258"/>
          </p14:sldIdLst>
        </p14:section>
        <p14:section name="Разработка" id="{74da4949-30f6-e8f2-c674-e063859e2aaa}">
          <p14:sldIdLst>
            <p14:sldId id="259"/>
            <p14:sldId id="260"/>
            <p14:sldId id="261"/>
            <p14:sldId id="262"/>
          </p14:sldIdLst>
        </p14:section>
        <p14:section name="Тестирование" id="{587fca5d-7e4b-5b94-3715-9903c5bbd27a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Итоги" id="{4944c808-faa3-7ec4-72f9-90b95d2fd6b4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Строки / операторы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Клиент</c:v>
                  </c:pt>
                  <c:pt idx="1">
                    <c:v>Сервер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Ветви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Клиент</c:v>
                  </c:pt>
                  <c:pt idx="1">
                    <c:v>Сервер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87</c:v>
                </c:pt>
                <c:pt idx="1">
                  <c:v>82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1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Дефекты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Нагрузочный тест</c:v>
                  </c:pt>
                  <c:pt idx="1">
                    <c:v>E2E</c:v>
                  </c:pt>
                  <c:pt idx="2">
                    <c:v>Интеграционные</c:v>
                  </c:pt>
                  <c:pt idx="3">
                    <c:v>Сканеры и анализ</c:v>
                  </c:pt>
                  <c:pt idx="4">
                    <c:v>Ручная проверка</c:v>
                  </c:pt>
                  <c:pt idx="5">
                    <c:v>Модульные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веб-приложение Kanban-доски, аналог Jira, и полный цикл его тестирования — от требований до CI/CD.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части работы: продукт, тестирование всеми требуемыми видами, автоматизация в пайплайне.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Матрица трассировки — docs/requirements.md, тест-кейсы — docs/test-cases.md.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Рекомендованный стек — Node/Express; заменил сервер на Go ради требования по производительности. Обоснование и альтернативы — STACK.md.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Зависимости только вниз: контроллер → сервис → репозиторий. Схема — docs/architecture.md.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 с реального стенда.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Каждое решение покрыто интеграционным тестом: TestWipLimitUnderConcurrency, TestCardRenumbering, TestRefreshTokenReuseRevokesSession.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Пирамида: снизу модульные, выше интеграционные, API и E2E. Нагрузочные и security-тесты запускаются по стенду.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из последнего прогона CI; отчёты — артефакты сборки и Codecov.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сценарий: регистрация → вход → проект → доска → карточки → перетаскивание → выход. Плюс права доступа, WIP, XSS, вложения, обновление в реальном времени, адаптивность. Трассировки падений сохраняются в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прогонов, каждое изменение по замерам: журналы Nginx, docker stats, EXPLAIN ANALYZE, pg_stat_statements. Таблица — docs/test-report.md.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Защиты: параметризованные запросы, экранирование React и CSP, Bearer-токен плюс double-submit для cookie, bcrypt, rate limit, HTTPS с HSTS.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дефект оформлен по шаблону: docs/bug-reports. У каждого — коммит с исправлением и тест от регрессии.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.github/workflows/ci.yml и load.yml.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Демонстрация: вход, создание карточки, перетаскивание в заполненную колонку, обновление во второй вкладке, запуск автотестов и пайплайна.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Kanban-доска и полный цикл тестирования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Лабораторная работа № 16 · Поддержка и тестирование программных модулей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Студент группы 360</a:t>
            </a:r>
            <a:endParaRPr lang="en-US" sz="2000" dirty="0"/>
          </a:p>
        </p:txBody>
      </p:sp>
      <p:sp>
        <p:nvSpPr>
          <p:cNvPr id="4" name="title-chip-0"/>
          <p:cNvSpPr txBox="1"/>
          <p:nvPr/>
        </p:nvSpPr>
        <p:spPr>
          <a:xfrm>
            <a:off x="548640" y="1097280"/>
            <a:ext cx="155448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 Do</a:t>
            </a:r>
            <a:endParaRPr lang="en-US" sz="1400" dirty="0"/>
          </a:p>
        </p:txBody>
      </p:sp>
      <p:sp>
        <p:nvSpPr>
          <p:cNvPr id="5" name="title-chip-1"/>
          <p:cNvSpPr txBox="1"/>
          <p:nvPr/>
        </p:nvSpPr>
        <p:spPr>
          <a:xfrm>
            <a:off x="2286000" y="1097280"/>
            <a:ext cx="155448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 Progress</a:t>
            </a:r>
            <a:endParaRPr lang="en-US" sz="1400" dirty="0"/>
          </a:p>
        </p:txBody>
      </p:sp>
      <p:sp>
        <p:nvSpPr>
          <p:cNvPr id="6" name="title-chip-2"/>
          <p:cNvSpPr txBox="1"/>
          <p:nvPr/>
        </p:nvSpPr>
        <p:spPr>
          <a:xfrm>
            <a:off x="4023360" y="1097280"/>
            <a:ext cx="155448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Что требовалось сделать</a:t>
            </a:r>
            <a:endParaRPr lang="en-US" sz="3200" dirty="0"/>
          </a:p>
        </p:txBody>
      </p:sp>
      <p:sp>
        <p:nvSpPr>
          <p:cNvPr id="3" name="task-0-card"/>
          <p:cNvSpPr/>
          <p:nvPr/>
        </p:nvSpPr>
        <p:spPr>
          <a:xfrm>
            <a:off x="54864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4" name="task-0-chip"/>
          <p:cNvSpPr txBox="1"/>
          <p:nvPr/>
        </p:nvSpPr>
        <p:spPr>
          <a:xfrm>
            <a:off x="777240" y="1874520"/>
            <a:ext cx="206654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Разработать</a:t>
            </a:r>
            <a:endParaRPr lang="en-US" sz="1100" dirty="0"/>
          </a:p>
        </p:txBody>
      </p:sp>
      <p:sp>
        <p:nvSpPr>
          <p:cNvPr id="5" name="task-0-head"/>
          <p:cNvSpPr txBox="1"/>
          <p:nvPr/>
        </p:nvSpPr>
        <p:spPr>
          <a:xfrm>
            <a:off x="77724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Kanban-доску уровня Jira</a:t>
            </a:r>
            <a:endParaRPr lang="en-US" sz="1800" dirty="0"/>
          </a:p>
        </p:txBody>
      </p:sp>
      <p:sp>
        <p:nvSpPr>
          <p:cNvPr id="6" name="task-0-body"/>
          <p:cNvSpPr txBox="1"/>
          <p:nvPr/>
        </p:nvSpPr>
        <p:spPr>
          <a:xfrm>
            <a:off x="777240" y="28346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E4C59"/>
                </a:solidFill>
              </a:rPr>
              <a:t>Проекты, доски, колонки с WIP-лимитами, карточки с исполнителем, метками, комментариями, вложениями и историей; роли и права доступа</a:t>
            </a:r>
            <a:endParaRPr lang="en-US" sz="1600" dirty="0"/>
          </a:p>
        </p:txBody>
      </p:sp>
      <p:sp>
        <p:nvSpPr>
          <p:cNvPr id="7" name="task-1-card"/>
          <p:cNvSpPr/>
          <p:nvPr/>
        </p:nvSpPr>
        <p:spPr>
          <a:xfrm>
            <a:off x="429768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8" name="task-1-chip"/>
          <p:cNvSpPr txBox="1"/>
          <p:nvPr/>
        </p:nvSpPr>
        <p:spPr>
          <a:xfrm>
            <a:off x="4526280" y="1874520"/>
            <a:ext cx="2505456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Протестировать</a:t>
            </a:r>
            <a:endParaRPr lang="en-US" sz="1100" dirty="0"/>
          </a:p>
        </p:txBody>
      </p:sp>
      <p:sp>
        <p:nvSpPr>
          <p:cNvPr id="9" name="task-1-head"/>
          <p:cNvSpPr txBox="1"/>
          <p:nvPr/>
        </p:nvSpPr>
        <p:spPr>
          <a:xfrm>
            <a:off x="452628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8 видов тестирования</a:t>
            </a:r>
            <a:endParaRPr lang="en-US" sz="1800" dirty="0"/>
          </a:p>
        </p:txBody>
      </p:sp>
      <p:sp>
        <p:nvSpPr>
          <p:cNvPr id="10" name="task-1-body"/>
          <p:cNvSpPr txBox="1"/>
          <p:nvPr/>
        </p:nvSpPr>
        <p:spPr>
          <a:xfrm>
            <a:off x="4526280" y="28346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E4C59"/>
                </a:solidFill>
              </a:rPr>
              <a:t>Модульное, интеграционное, API, E2E, нагрузочное, безопасность, юзабилити, регрессионное</a:t>
            </a:r>
            <a:endParaRPr lang="en-US" sz="1600" dirty="0"/>
          </a:p>
        </p:txBody>
      </p:sp>
      <p:sp>
        <p:nvSpPr>
          <p:cNvPr id="11" name="task-2-card"/>
          <p:cNvSpPr/>
          <p:nvPr/>
        </p:nvSpPr>
        <p:spPr>
          <a:xfrm>
            <a:off x="804672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12" name="task-2-chip"/>
          <p:cNvSpPr txBox="1"/>
          <p:nvPr/>
        </p:nvSpPr>
        <p:spPr>
          <a:xfrm>
            <a:off x="8275320" y="1874520"/>
            <a:ext cx="2798064" cy="292608"/>
          </a:xfrm>
          <a:prstGeom prst="roundRect">
            <a:avLst>
              <a:gd name="adj" fmla="val 1562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Автоматизировать</a:t>
            </a:r>
            <a:endParaRPr lang="en-US" sz="1100" dirty="0"/>
          </a:p>
        </p:txBody>
      </p:sp>
      <p:sp>
        <p:nvSpPr>
          <p:cNvPr id="13" name="task-2-head"/>
          <p:cNvSpPr txBox="1"/>
          <p:nvPr/>
        </p:nvSpPr>
        <p:spPr>
          <a:xfrm>
            <a:off x="827532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CI/CD</a:t>
            </a:r>
            <a:endParaRPr lang="en-US" sz="1800" dirty="0"/>
          </a:p>
        </p:txBody>
      </p:sp>
      <p:sp>
        <p:nvSpPr>
          <p:cNvPr id="14" name="task-2-body"/>
          <p:cNvSpPr txBox="1"/>
          <p:nvPr/>
        </p:nvSpPr>
        <p:spPr>
          <a:xfrm>
            <a:off x="8275320" y="28346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E4C59"/>
                </a:solidFill>
              </a:rPr>
              <a:t>Каждый пуш проходит линтеры, тесты, сканеры и выкатывается на staging, из main — на production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Требования прослежены до тестов</a:t>
            </a:r>
            <a:endParaRPr lang="en-US" sz="3200" dirty="0"/>
          </a:p>
        </p:txBody>
      </p:sp>
      <p:sp>
        <p:nvSpPr>
          <p:cNvPr id="3" name="fr-value"/>
          <p:cNvSpPr txBox="1"/>
          <p:nvPr/>
        </p:nvSpPr>
        <p:spPr>
          <a:xfrm>
            <a:off x="54864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5400" dirty="0"/>
          </a:p>
        </p:txBody>
      </p:sp>
      <p:sp>
        <p:nvSpPr>
          <p:cNvPr id="4" name="fr-label"/>
          <p:cNvSpPr txBox="1"/>
          <p:nvPr/>
        </p:nvSpPr>
        <p:spPr>
          <a:xfrm>
            <a:off x="54864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функциональных требований, каждое связано с эндпоинтом и тест-кейсом</a:t>
            </a:r>
            <a:endParaRPr lang="en-US" sz="1400" dirty="0"/>
          </a:p>
        </p:txBody>
      </p:sp>
      <p:sp>
        <p:nvSpPr>
          <p:cNvPr id="5" name="nfr-value"/>
          <p:cNvSpPr txBox="1"/>
          <p:nvPr/>
        </p:nvSpPr>
        <p:spPr>
          <a:xfrm>
            <a:off x="429768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6" name="nfr-label"/>
          <p:cNvSpPr txBox="1"/>
          <p:nvPr/>
        </p:nvSpPr>
        <p:spPr>
          <a:xfrm>
            <a:off x="429768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нефункциональных: отклик, 10 000 карточек, безопасность, покрытие</a:t>
            </a:r>
            <a:endParaRPr lang="en-US" sz="1400" dirty="0"/>
          </a:p>
        </p:txBody>
      </p:sp>
      <p:sp>
        <p:nvSpPr>
          <p:cNvPr id="7" name="tc-value"/>
          <p:cNvSpPr txBox="1"/>
          <p:nvPr/>
        </p:nvSpPr>
        <p:spPr>
          <a:xfrm>
            <a:off x="804672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8" name="tc-label"/>
          <p:cNvSpPr txBox="1"/>
          <p:nvPr/>
        </p:nvSpPr>
        <p:spPr>
          <a:xfrm>
            <a:off x="804672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тест-кейсов: 8 из методички и 22 дополнительных</a:t>
            </a:r>
            <a:endParaRPr lang="en-US" sz="1400" dirty="0"/>
          </a:p>
        </p:txBody>
      </p:sp>
      <p:sp>
        <p:nvSpPr>
          <p:cNvPr id="9" name="scope-note"/>
          <p:cNvSpPr txBox="1"/>
          <p:nvPr/>
        </p:nvSpPr>
        <p:spPr>
          <a:xfrm>
            <a:off x="548640" y="4937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</a:rPr>
              <a:t>Вне объёма: уведомления и восстановление пароля — опциональные по методичке; TC-08 отмечен неприменимым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Стек: React на клиенте, Go на сервере</a:t>
            </a:r>
            <a:endParaRPr lang="en-US" sz="3200" dirty="0"/>
          </a:p>
        </p:txBody>
      </p:sp>
      <p:sp>
        <p:nvSpPr>
          <p:cNvPr id="3" name="stack-k-0"/>
          <p:cNvSpPr txBox="1"/>
          <p:nvPr/>
        </p:nvSpPr>
        <p:spPr>
          <a:xfrm>
            <a:off x="548640" y="1417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Frontend</a:t>
            </a:r>
            <a:endParaRPr lang="en-US" sz="1800" dirty="0"/>
          </a:p>
        </p:txBody>
      </p:sp>
      <p:sp>
        <p:nvSpPr>
          <p:cNvPr id="4" name="stack-v-0"/>
          <p:cNvSpPr txBox="1"/>
          <p:nvPr/>
        </p:nvSpPr>
        <p:spPr>
          <a:xfrm>
            <a:off x="3017520" y="1417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React, TypeScript, Redux Toolkit, dnd-kit, Material UI</a:t>
            </a:r>
            <a:endParaRPr lang="en-US" sz="1600" dirty="0"/>
          </a:p>
        </p:txBody>
      </p:sp>
      <p:sp>
        <p:nvSpPr>
          <p:cNvPr id="5" name="stack-k-1"/>
          <p:cNvSpPr txBox="1"/>
          <p:nvPr/>
        </p:nvSpPr>
        <p:spPr>
          <a:xfrm>
            <a:off x="54864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Backend</a:t>
            </a:r>
            <a:endParaRPr lang="en-US" sz="1800" dirty="0"/>
          </a:p>
        </p:txBody>
      </p:sp>
      <p:sp>
        <p:nvSpPr>
          <p:cNvPr id="6" name="stack-v-1"/>
          <p:cNvSpPr txBox="1"/>
          <p:nvPr/>
        </p:nvSpPr>
        <p:spPr>
          <a:xfrm>
            <a:off x="3017520" y="22860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Go, chi, pgx + sqlc, goose, JWT, WebSocket</a:t>
            </a:r>
            <a:endParaRPr lang="en-US" sz="1600" dirty="0"/>
          </a:p>
        </p:txBody>
      </p:sp>
      <p:sp>
        <p:nvSpPr>
          <p:cNvPr id="7" name="stack-k-2"/>
          <p:cNvSpPr txBox="1"/>
          <p:nvPr/>
        </p:nvSpPr>
        <p:spPr>
          <a:xfrm>
            <a:off x="54864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Данные</a:t>
            </a:r>
            <a:endParaRPr lang="en-US" sz="1800" dirty="0"/>
          </a:p>
        </p:txBody>
      </p:sp>
      <p:sp>
        <p:nvSpPr>
          <p:cNvPr id="8" name="stack-v-2"/>
          <p:cNvSpPr txBox="1"/>
          <p:nvPr/>
        </p:nvSpPr>
        <p:spPr>
          <a:xfrm>
            <a:off x="3017520" y="3154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PostgreSQL 17, Redis 8</a:t>
            </a:r>
            <a:endParaRPr lang="en-US" sz="1600" dirty="0"/>
          </a:p>
        </p:txBody>
      </p:sp>
      <p:sp>
        <p:nvSpPr>
          <p:cNvPr id="9" name="stack-k-3"/>
          <p:cNvSpPr txBox="1"/>
          <p:nvPr/>
        </p:nvSpPr>
        <p:spPr>
          <a:xfrm>
            <a:off x="54864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Контракт</a:t>
            </a:r>
            <a:endParaRPr lang="en-US" sz="1800" dirty="0"/>
          </a:p>
        </p:txBody>
      </p:sp>
      <p:sp>
        <p:nvSpPr>
          <p:cNvPr id="10" name="stack-v-3"/>
          <p:cNvSpPr txBox="1"/>
          <p:nvPr/>
        </p:nvSpPr>
        <p:spPr>
          <a:xfrm>
            <a:off x="3017520" y="4023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OpenAPI 3 → код сервера и типы клиента</a:t>
            </a:r>
            <a:endParaRPr lang="en-US" sz="1600" dirty="0"/>
          </a:p>
        </p:txBody>
      </p:sp>
      <p:sp>
        <p:nvSpPr>
          <p:cNvPr id="11" name="stack-k-4"/>
          <p:cNvSpPr txBox="1"/>
          <p:nvPr/>
        </p:nvSpPr>
        <p:spPr>
          <a:xfrm>
            <a:off x="54864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Инфраструктура</a:t>
            </a:r>
            <a:endParaRPr lang="en-US" sz="1800" dirty="0"/>
          </a:p>
        </p:txBody>
      </p:sp>
      <p:sp>
        <p:nvSpPr>
          <p:cNvPr id="12" name="stack-v-4"/>
          <p:cNvSpPr txBox="1"/>
          <p:nvPr/>
        </p:nvSpPr>
        <p:spPr>
          <a:xfrm>
            <a:off x="3017520" y="4892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Docker, Nginx, GitHub Actions, Prometheus, Grafana</a:t>
            </a:r>
            <a:endParaRPr lang="en-US" sz="1600" dirty="0"/>
          </a:p>
        </p:txBody>
      </p:sp>
      <p:sp>
        <p:nvSpPr>
          <p:cNvPr id="13" name="why-go-card"/>
          <p:cNvSpPr/>
          <p:nvPr/>
        </p:nvSpPr>
        <p:spPr>
          <a:xfrm>
            <a:off x="7589520" y="1371600"/>
            <a:ext cx="4023360" cy="448056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14" name="why-go-chip"/>
          <p:cNvSpPr txBox="1"/>
          <p:nvPr/>
        </p:nvSpPr>
        <p:spPr>
          <a:xfrm>
            <a:off x="7818120" y="1600200"/>
            <a:ext cx="1773936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Почему Go</a:t>
            </a:r>
            <a:endParaRPr lang="en-US" sz="1100" dirty="0"/>
          </a:p>
        </p:txBody>
      </p:sp>
      <p:sp>
        <p:nvSpPr>
          <p:cNvPr id="15" name="why-go-body"/>
          <p:cNvSpPr txBox="1"/>
          <p:nvPr/>
        </p:nvSpPr>
        <p:spPr>
          <a:xfrm>
            <a:off x="7818120" y="2057400"/>
            <a:ext cx="3566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E4C59"/>
                </a:solidFill>
              </a:rPr>
              <a:t>Требование: ответ быстрее 200 мс при 1000 пользователях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E4C59"/>
                </a:solidFill>
              </a:rPr>
              <a:t>Нативный код, горутина на соединение, малый образ (34 МБ)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E4C59"/>
                </a:solidFill>
              </a:rPr>
              <a:t>sqlc: SQL проверяется при сборке, все запросы параметризованы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E4C59"/>
                </a:solidFill>
              </a:rPr>
              <a:t>Плата: больше явного кода, покрытие ветвей — отдельным инструментом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Архитектура: монолит со строгими слоями</a:t>
            </a:r>
            <a:endParaRPr lang="en-US" sz="3200" dirty="0"/>
          </a:p>
        </p:txBody>
      </p:sp>
      <p:sp>
        <p:nvSpPr>
          <p:cNvPr id="3" name="arch-browser"/>
          <p:cNvSpPr txBox="1"/>
          <p:nvPr/>
        </p:nvSpPr>
        <p:spPr>
          <a:xfrm>
            <a:off x="548640" y="155448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Браузер: React SPA</a:t>
            </a:r>
            <a:endParaRPr lang="en-US" sz="1500" dirty="0"/>
          </a:p>
        </p:txBody>
      </p:sp>
      <p:sp>
        <p:nvSpPr>
          <p:cNvPr id="4" name="arch-nginx"/>
          <p:cNvSpPr txBox="1"/>
          <p:nvPr/>
        </p:nvSpPr>
        <p:spPr>
          <a:xfrm>
            <a:off x="3566160" y="1554480"/>
            <a:ext cx="27432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Nginx: TLS, статика, прокси</a:t>
            </a:r>
            <a:endParaRPr lang="en-US" sz="1500" dirty="0"/>
          </a:p>
        </p:txBody>
      </p:sp>
      <p:sp>
        <p:nvSpPr>
          <p:cNvPr id="5" name="arch-a1"/>
          <p:cNvSpPr/>
          <p:nvPr/>
        </p:nvSpPr>
        <p:spPr>
          <a:xfrm>
            <a:off x="2926080" y="1920240"/>
            <a:ext cx="64008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6" name="arch-go"/>
          <p:cNvSpPr/>
          <p:nvPr/>
        </p:nvSpPr>
        <p:spPr>
          <a:xfrm>
            <a:off x="6949440" y="1280160"/>
            <a:ext cx="46634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rgbClr val="D5DEE3"/>
            </a:solidFill>
            <a:prstDash val="solid"/>
          </a:ln>
        </p:spPr>
      </p:sp>
      <p:sp>
        <p:nvSpPr>
          <p:cNvPr id="7" name="arch-go-title"/>
          <p:cNvSpPr txBox="1"/>
          <p:nvPr/>
        </p:nvSpPr>
        <p:spPr>
          <a:xfrm>
            <a:off x="7132320" y="1371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Сервер на Go</a:t>
            </a:r>
            <a:endParaRPr lang="en-US" sz="1400" dirty="0"/>
          </a:p>
        </p:txBody>
      </p:sp>
      <p:sp>
        <p:nvSpPr>
          <p:cNvPr id="8" name="arch-layer-0"/>
          <p:cNvSpPr txBox="1"/>
          <p:nvPr/>
        </p:nvSpPr>
        <p:spPr>
          <a:xfrm>
            <a:off x="7132320" y="1828800"/>
            <a:ext cx="429768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HTTP: контроллеры, валидация по OpenAPI</a:t>
            </a:r>
            <a:endParaRPr lang="en-US" sz="1500" dirty="0"/>
          </a:p>
        </p:txBody>
      </p:sp>
      <p:sp>
        <p:nvSpPr>
          <p:cNvPr id="9" name="arch-layer-1"/>
          <p:cNvSpPr txBox="1"/>
          <p:nvPr/>
        </p:nvSpPr>
        <p:spPr>
          <a:xfrm>
            <a:off x="7132320" y="2514600"/>
            <a:ext cx="429768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Сервисы: права, WIP-лимиты, история</a:t>
            </a:r>
            <a:endParaRPr lang="en-US" sz="1500" dirty="0"/>
          </a:p>
        </p:txBody>
      </p:sp>
      <p:sp>
        <p:nvSpPr>
          <p:cNvPr id="10" name="arch-layer-2"/>
          <p:cNvSpPr txBox="1"/>
          <p:nvPr/>
        </p:nvSpPr>
        <p:spPr>
          <a:xfrm>
            <a:off x="7132320" y="3200400"/>
            <a:ext cx="429768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Репозиторий: запросы sqlc</a:t>
            </a:r>
            <a:endParaRPr lang="en-US" sz="1500" dirty="0"/>
          </a:p>
        </p:txBody>
      </p:sp>
      <p:sp>
        <p:nvSpPr>
          <p:cNvPr id="11" name="arch-layer-3"/>
          <p:cNvSpPr txBox="1"/>
          <p:nvPr/>
        </p:nvSpPr>
        <p:spPr>
          <a:xfrm>
            <a:off x="7132320" y="3886200"/>
            <a:ext cx="42976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WebSocket-хаб</a:t>
            </a:r>
            <a:endParaRPr lang="en-US" sz="1500" dirty="0"/>
          </a:p>
        </p:txBody>
      </p:sp>
      <p:sp>
        <p:nvSpPr>
          <p:cNvPr id="12" name="arch-a2"/>
          <p:cNvSpPr/>
          <p:nvPr/>
        </p:nvSpPr>
        <p:spPr>
          <a:xfrm>
            <a:off x="6309360" y="1920240"/>
            <a:ext cx="64008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3" name="arch-pg"/>
          <p:cNvSpPr txBox="1"/>
          <p:nvPr/>
        </p:nvSpPr>
        <p:spPr>
          <a:xfrm>
            <a:off x="6949440" y="512064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4" name="arch-redis"/>
          <p:cNvSpPr txBox="1"/>
          <p:nvPr/>
        </p:nvSpPr>
        <p:spPr>
          <a:xfrm>
            <a:off x="9418320" y="512064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Redis</a:t>
            </a:r>
            <a:endParaRPr lang="en-US" sz="1500" dirty="0"/>
          </a:p>
        </p:txBody>
      </p:sp>
      <p:sp>
        <p:nvSpPr>
          <p:cNvPr id="15" name="arch-prom"/>
          <p:cNvSpPr txBox="1"/>
          <p:nvPr/>
        </p:nvSpPr>
        <p:spPr>
          <a:xfrm>
            <a:off x="548640" y="5120640"/>
            <a:ext cx="274320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Prometheus → Grafana</a:t>
            </a:r>
            <a:endParaRPr lang="en-US" sz="1500" dirty="0"/>
          </a:p>
        </p:txBody>
      </p:sp>
      <p:sp>
        <p:nvSpPr>
          <p:cNvPr id="16" name="arch-note"/>
          <p:cNvSpPr txBox="1"/>
          <p:nvPr/>
        </p:nvSpPr>
        <p:spPr>
          <a:xfrm>
            <a:off x="548640" y="2926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Изменения доски рассылаются через Redis pub/sub всем экземплярам сервера, а оттуда — браузерам по WebSocket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Доска: перетаскивание, фильтры, WIP-лимит</a:t>
            </a:r>
            <a:endParaRPr lang="en-US" sz="3200" dirty="0"/>
          </a:p>
        </p:txBody>
      </p:sp>
      <p:pic>
        <p:nvPicPr>
          <p:cNvPr id="3" name="board-shot" descr="Доска со столбцами To Do, In Progress и 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4320540"/>
          </a:xfrm>
          <a:prstGeom prst="rect">
            <a:avLst/>
          </a:prstGeom>
        </p:spPr>
      </p:pic>
      <p:sp>
        <p:nvSpPr>
          <p:cNvPr id="4" name="board-notes"/>
          <p:cNvSpPr txBox="1"/>
          <p:nvPr/>
        </p:nvSpPr>
        <p:spPr>
          <a:xfrm>
            <a:off x="8503920" y="1371600"/>
            <a:ext cx="3154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Колонка In Progress заполнена (3 / 3) — кнопка добавления недоступна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Карточка: исполнитель, приоритет, дедлайн, метки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Поиск и фильтры по исполнителю, приоритету, меткам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Изменения других пользователей появляются без перезагрузки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Три решения, которые проверялись тестами</a:t>
            </a:r>
            <a:endParaRPr lang="en-US" sz="3200" dirty="0"/>
          </a:p>
        </p:txBody>
      </p:sp>
      <p:sp>
        <p:nvSpPr>
          <p:cNvPr id="3" name="decision-0-card"/>
          <p:cNvSpPr/>
          <p:nvPr/>
        </p:nvSpPr>
        <p:spPr>
          <a:xfrm>
            <a:off x="54864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4" name="decision-0-chip"/>
          <p:cNvSpPr txBox="1"/>
          <p:nvPr/>
        </p:nvSpPr>
        <p:spPr>
          <a:xfrm>
            <a:off x="777240" y="1874520"/>
            <a:ext cx="3063240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WIP-лимит без гонок</a:t>
            </a:r>
            <a:endParaRPr lang="en-US" sz="1100" dirty="0"/>
          </a:p>
        </p:txBody>
      </p:sp>
      <p:sp>
        <p:nvSpPr>
          <p:cNvPr id="5" name="decision-0-body"/>
          <p:cNvSpPr txBox="1"/>
          <p:nvPr/>
        </p:nvSpPr>
        <p:spPr>
          <a:xfrm>
            <a:off x="777240" y="2331720"/>
            <a:ext cx="3063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E4C59"/>
                </a:solidFill>
              </a:rPr>
              <a:t>Перемещение блокирует строку колонки (SELECT … FOR UPDATE) и только потом считает карточки. 10 параллельных запросов в колонку с лимитом 1 — проходит ровно один.</a:t>
            </a:r>
            <a:endParaRPr lang="en-US" sz="1600" dirty="0"/>
          </a:p>
        </p:txBody>
      </p:sp>
      <p:sp>
        <p:nvSpPr>
          <p:cNvPr id="6" name="decision-1-card"/>
          <p:cNvSpPr/>
          <p:nvPr/>
        </p:nvSpPr>
        <p:spPr>
          <a:xfrm>
            <a:off x="429768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7" name="decision-1-chip"/>
          <p:cNvSpPr txBox="1"/>
          <p:nvPr/>
        </p:nvSpPr>
        <p:spPr>
          <a:xfrm>
            <a:off x="4526280" y="1874520"/>
            <a:ext cx="306324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Порядок без перенумерации</a:t>
            </a:r>
            <a:endParaRPr lang="en-US" sz="1100" dirty="0"/>
          </a:p>
        </p:txBody>
      </p:sp>
      <p:sp>
        <p:nvSpPr>
          <p:cNvPr id="8" name="decision-1-body"/>
          <p:cNvSpPr txBox="1"/>
          <p:nvPr/>
        </p:nvSpPr>
        <p:spPr>
          <a:xfrm>
            <a:off x="4526280" y="2331720"/>
            <a:ext cx="3063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E4C59"/>
                </a:solidFill>
              </a:rPr>
              <a:t>Позиция — дробное число между соседями: перемещение меняет одну строку. Когда промежуток исчерпан, колонка перенумеровывается.</a:t>
            </a:r>
            <a:endParaRPr lang="en-US" sz="1600" dirty="0"/>
          </a:p>
        </p:txBody>
      </p:sp>
      <p:sp>
        <p:nvSpPr>
          <p:cNvPr id="9" name="decision-2-card"/>
          <p:cNvSpPr/>
          <p:nvPr/>
        </p:nvSpPr>
        <p:spPr>
          <a:xfrm>
            <a:off x="804672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10" name="decision-2-chip"/>
          <p:cNvSpPr txBox="1"/>
          <p:nvPr/>
        </p:nvSpPr>
        <p:spPr>
          <a:xfrm>
            <a:off x="8275320" y="1874520"/>
            <a:ext cx="3063240" cy="292608"/>
          </a:xfrm>
          <a:prstGeom prst="roundRect">
            <a:avLst>
              <a:gd name="adj" fmla="val 1562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Сессия без XSS и CSRF</a:t>
            </a:r>
            <a:endParaRPr lang="en-US" sz="1100" dirty="0"/>
          </a:p>
        </p:txBody>
      </p:sp>
      <p:sp>
        <p:nvSpPr>
          <p:cNvPr id="11" name="decision-2-body"/>
          <p:cNvSpPr txBox="1"/>
          <p:nvPr/>
        </p:nvSpPr>
        <p:spPr>
          <a:xfrm>
            <a:off x="8275320" y="2331720"/>
            <a:ext cx="3063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E4C59"/>
                </a:solidFill>
              </a:rPr>
              <a:t>Access JWT живёт 15 минут в памяти. Refresh-токен в httpOnly-cookie меняется при каждом обновлении; повторное предъявление отзывает всю цепочку.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276 автотестов на всех уровнях</a:t>
            </a:r>
            <a:endParaRPr lang="en-US" sz="3200" dirty="0"/>
          </a:p>
        </p:txBody>
      </p:sp>
      <p:sp>
        <p:nvSpPr>
          <p:cNvPr id="3" name="level-0"/>
          <p:cNvSpPr txBox="1"/>
          <p:nvPr/>
        </p:nvSpPr>
        <p:spPr>
          <a:xfrm>
            <a:off x="2926080" y="1325880"/>
            <a:ext cx="292608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E2E (×3 браузера): 17</a:t>
            </a:r>
            <a:endParaRPr lang="en-US" sz="1600" dirty="0"/>
          </a:p>
        </p:txBody>
      </p:sp>
      <p:sp>
        <p:nvSpPr>
          <p:cNvPr id="4" name="level-1"/>
          <p:cNvSpPr txBox="1"/>
          <p:nvPr/>
        </p:nvSpPr>
        <p:spPr>
          <a:xfrm>
            <a:off x="2331720" y="2075688"/>
            <a:ext cx="4114800" cy="6400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API, Newman: 33</a:t>
            </a:r>
            <a:endParaRPr lang="en-US" sz="1600" dirty="0"/>
          </a:p>
        </p:txBody>
      </p:sp>
      <p:sp>
        <p:nvSpPr>
          <p:cNvPr id="5" name="level-2"/>
          <p:cNvSpPr txBox="1"/>
          <p:nvPr/>
        </p:nvSpPr>
        <p:spPr>
          <a:xfrm>
            <a:off x="1737360" y="2825496"/>
            <a:ext cx="530352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Интеграционные: 39</a:t>
            </a:r>
            <a:endParaRPr lang="en-US" sz="1600" dirty="0"/>
          </a:p>
        </p:txBody>
      </p:sp>
      <p:sp>
        <p:nvSpPr>
          <p:cNvPr id="6" name="level-3"/>
          <p:cNvSpPr txBox="1"/>
          <p:nvPr/>
        </p:nvSpPr>
        <p:spPr>
          <a:xfrm>
            <a:off x="1143000" y="3575304"/>
            <a:ext cx="6492240" cy="64008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Модульные, сервер: 47</a:t>
            </a:r>
            <a:endParaRPr lang="en-US" sz="1600" dirty="0"/>
          </a:p>
        </p:txBody>
      </p:sp>
      <p:sp>
        <p:nvSpPr>
          <p:cNvPr id="7" name="level-4"/>
          <p:cNvSpPr txBox="1"/>
          <p:nvPr/>
        </p:nvSpPr>
        <p:spPr>
          <a:xfrm>
            <a:off x="548640" y="4325112"/>
            <a:ext cx="7680960" cy="64008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Модульные, клиент: 140</a:t>
            </a:r>
            <a:endParaRPr lang="en-US" sz="1600" dirty="0"/>
          </a:p>
        </p:txBody>
      </p:sp>
      <p:sp>
        <p:nvSpPr>
          <p:cNvPr id="8" name="tools"/>
          <p:cNvSpPr txBox="1"/>
          <p:nvPr/>
        </p:nvSpPr>
        <p:spPr>
          <a:xfrm>
            <a:off x="8412480" y="1371600"/>
            <a:ext cx="32918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 test, testify, testcontainers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Vitest, React Testing Library, MSW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Postman + Newman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Playwright: Chrome, Firefox, Edge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k6: 1000 пользователей, 1000 RPS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ZAP, Trivy, gosec, govulncheck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Покрытие выше порогов на обеих сторонах</a:t>
            </a:r>
            <a:endParaRPr lang="en-US" sz="3200" dirty="0"/>
          </a:p>
        </p:txBody>
      </p:sp>
      <p:graphicFrame>
        <p:nvGraphicFramePr>
          <p:cNvPr id="3" name="coverage-chart" descr=""/>
          <p:cNvGraphicFramePr/>
          <p:nvPr/>
        </p:nvGraphicFramePr>
        <p:xfrm>
          <a:off x="548640" y="128016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hresholds-card"/>
          <p:cNvSpPr/>
          <p:nvPr/>
        </p:nvSpPr>
        <p:spPr>
          <a:xfrm>
            <a:off x="804672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5" name="thresholds-chip"/>
          <p:cNvSpPr txBox="1"/>
          <p:nvPr/>
        </p:nvSpPr>
        <p:spPr>
          <a:xfrm>
            <a:off x="8275320" y="1600200"/>
            <a:ext cx="2066544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Пороги в CI</a:t>
            </a:r>
            <a:endParaRPr lang="en-US" sz="1100" dirty="0"/>
          </a:p>
        </p:txBody>
      </p:sp>
      <p:sp>
        <p:nvSpPr>
          <p:cNvPr id="6" name="thresholds-body"/>
          <p:cNvSpPr txBox="1"/>
          <p:nvPr/>
        </p:nvSpPr>
        <p:spPr>
          <a:xfrm>
            <a:off x="8275320" y="2057400"/>
            <a:ext cx="3108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E4C59"/>
                </a:solidFill>
              </a:rPr>
              <a:t>80% строк и 70% ветвей — сборка падает ниже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E4C59"/>
                </a:solidFill>
              </a:rPr>
              <a:t>Клиент: Vitest (v8) даёт оба показателя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E4C59"/>
                </a:solidFill>
              </a:rPr>
              <a:t>Сервер: go test считает операторы, ветви — gobco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E4C59"/>
                </a:solidFill>
              </a:rPr>
              <a:t>Сгенерированный код (OpenAPI, sqlc) не учитывается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E2E в трёх браузерах и API-сценарии</a:t>
            </a:r>
            <a:endParaRPr lang="en-US" sz="3200" dirty="0"/>
          </a:p>
        </p:txBody>
      </p:sp>
      <p:sp>
        <p:nvSpPr>
          <p:cNvPr id="3" name="e2e-value"/>
          <p:cNvSpPr txBox="1"/>
          <p:nvPr/>
        </p:nvSpPr>
        <p:spPr>
          <a:xfrm>
            <a:off x="54864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× 3</a:t>
            </a:r>
            <a:endParaRPr lang="en-US" sz="5400" dirty="0"/>
          </a:p>
        </p:txBody>
      </p:sp>
      <p:sp>
        <p:nvSpPr>
          <p:cNvPr id="4" name="e2e-label"/>
          <p:cNvSpPr txBox="1"/>
          <p:nvPr/>
        </p:nvSpPr>
        <p:spPr>
          <a:xfrm>
            <a:off x="54864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сценариев Playwright: Chrome, Firefox, Edge</a:t>
            </a:r>
            <a:endParaRPr lang="en-US" sz="1400" dirty="0"/>
          </a:p>
        </p:txBody>
      </p:sp>
      <p:sp>
        <p:nvSpPr>
          <p:cNvPr id="5" name="newman-value"/>
          <p:cNvSpPr txBox="1"/>
          <p:nvPr/>
        </p:nvSpPr>
        <p:spPr>
          <a:xfrm>
            <a:off x="548640" y="3291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5400" dirty="0"/>
          </a:p>
        </p:txBody>
      </p:sp>
      <p:sp>
        <p:nvSpPr>
          <p:cNvPr id="6" name="newman-label"/>
          <p:cNvSpPr txBox="1"/>
          <p:nvPr/>
        </p:nvSpPr>
        <p:spPr>
          <a:xfrm>
            <a:off x="54864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проверок Newman в 33 запросах</a:t>
            </a:r>
            <a:endParaRPr lang="en-US" sz="1400" dirty="0"/>
          </a:p>
        </p:txBody>
      </p:sp>
      <p:pic>
        <p:nvPicPr>
          <p:cNvPr id="7" name="card-shot" descr="Диалог карточки с комментарие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280160"/>
            <a:ext cx="7772400" cy="43708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Нагрузка: в 4 раза больше запросов, ошибок нет</a:t>
            </a:r>
            <a:endParaRPr lang="en-US" sz="3200" dirty="0"/>
          </a:p>
        </p:txBody>
      </p:sp>
      <p:sp>
        <p:nvSpPr>
          <p:cNvPr id="3" name="load-0-value"/>
          <p:cNvSpPr txBox="1"/>
          <p:nvPr/>
        </p:nvSpPr>
        <p:spPr>
          <a:xfrm>
            <a:off x="54864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2348</a:t>
            </a:r>
            <a:endParaRPr lang="en-US" sz="5400" dirty="0"/>
          </a:p>
        </p:txBody>
      </p:sp>
      <p:sp>
        <p:nvSpPr>
          <p:cNvPr id="4" name="load-0-label"/>
          <p:cNvSpPr txBox="1"/>
          <p:nvPr/>
        </p:nvSpPr>
        <p:spPr>
          <a:xfrm>
            <a:off x="54864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запросов в секунду при 1000 пользователях (было 558)</a:t>
            </a:r>
            <a:endParaRPr lang="en-US" sz="1400" dirty="0"/>
          </a:p>
        </p:txBody>
      </p:sp>
      <p:sp>
        <p:nvSpPr>
          <p:cNvPr id="5" name="load-1-value"/>
          <p:cNvSpPr txBox="1"/>
          <p:nvPr/>
        </p:nvSpPr>
        <p:spPr>
          <a:xfrm>
            <a:off x="338328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0 %</a:t>
            </a:r>
            <a:endParaRPr lang="en-US" sz="5400" dirty="0"/>
          </a:p>
        </p:txBody>
      </p:sp>
      <p:sp>
        <p:nvSpPr>
          <p:cNvPr id="6" name="load-1-label"/>
          <p:cNvSpPr txBox="1"/>
          <p:nvPr/>
        </p:nvSpPr>
        <p:spPr>
          <a:xfrm>
            <a:off x="338328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ошибок (было 31,7 %)</a:t>
            </a:r>
            <a:endParaRPr lang="en-US" sz="1400" dirty="0"/>
          </a:p>
        </p:txBody>
      </p:sp>
      <p:sp>
        <p:nvSpPr>
          <p:cNvPr id="7" name="load-2-value"/>
          <p:cNvSpPr txBox="1"/>
          <p:nvPr/>
        </p:nvSpPr>
        <p:spPr>
          <a:xfrm>
            <a:off x="621792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 мс</a:t>
            </a:r>
            <a:endParaRPr lang="en-US" sz="5400" dirty="0"/>
          </a:p>
        </p:txBody>
      </p:sp>
      <p:sp>
        <p:nvSpPr>
          <p:cNvPr id="8" name="load-2-label"/>
          <p:cNvSpPr txBox="1"/>
          <p:nvPr/>
        </p:nvSpPr>
        <p:spPr>
          <a:xfrm>
            <a:off x="621792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p95 при постоянных 1000 RPS — тест пройден</a:t>
            </a:r>
            <a:endParaRPr lang="en-US" sz="1400" dirty="0"/>
          </a:p>
        </p:txBody>
      </p:sp>
      <p:sp>
        <p:nvSpPr>
          <p:cNvPr id="9" name="load-findings-card"/>
          <p:cNvSpPr/>
          <p:nvPr/>
        </p:nvSpPr>
        <p:spPr>
          <a:xfrm>
            <a:off x="548640" y="3657600"/>
            <a:ext cx="11094415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10" name="load-findings-chip"/>
          <p:cNvSpPr txBox="1"/>
          <p:nvPr/>
        </p:nvSpPr>
        <p:spPr>
          <a:xfrm>
            <a:off x="777240" y="3886200"/>
            <a:ext cx="4261104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Что нашёл нагрузочный тест</a:t>
            </a:r>
            <a:endParaRPr lang="en-US" sz="1100" dirty="0"/>
          </a:p>
        </p:txBody>
      </p:sp>
      <p:sp>
        <p:nvSpPr>
          <p:cNvPr id="11" name="load-findings-body"/>
          <p:cNvSpPr txBox="1"/>
          <p:nvPr/>
        </p:nvSpPr>
        <p:spPr>
          <a:xfrm>
            <a:off x="777240" y="4343400"/>
            <a:ext cx="10637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E4C59"/>
                </a:solidFill>
              </a:rPr>
              <a:t>Nginx открывал новое соединение на каждый запрос и исчерпывал порты → keepalive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E4C59"/>
                </a:solidFill>
              </a:rPr>
              <a:t>63 % времени базы — одна строка-счётчик номеров карточек → последовательность PostgreSQL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E4C59"/>
                </a:solidFill>
              </a:rPr>
              <a:t>p95 при 1000 пользователях — 463 мс: на одной машине k6 и база делят процессор; порог 200 мс выполнен для изменения и перемещения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Безопасность: шесть сканеров в каждой сборке</a:t>
            </a:r>
            <a:endParaRPr lang="en-US" sz="3200" dirty="0"/>
          </a:p>
        </p:txBody>
      </p:sp>
      <p:sp>
        <p:nvSpPr>
          <p:cNvPr id="3" name="sec-0-card"/>
          <p:cNvSpPr/>
          <p:nvPr/>
        </p:nvSpPr>
        <p:spPr>
          <a:xfrm>
            <a:off x="548640" y="132588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4" name="sec-0-head"/>
          <p:cNvSpPr txBox="1"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OWASP ZAP: интерфейс и API</a:t>
            </a:r>
            <a:endParaRPr lang="en-US" sz="1700" dirty="0"/>
          </a:p>
        </p:txBody>
      </p:sp>
      <p:sp>
        <p:nvSpPr>
          <p:cNvPr id="5" name="sec-0-body"/>
          <p:cNvSpPr txBox="1"/>
          <p:nvPr/>
        </p:nvSpPr>
        <p:spPr>
          <a:xfrm>
            <a:off x="7772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E4C59"/>
                </a:solidFill>
              </a:rPr>
              <a:t>0 High; найден ответ 500 на символ NUL — исправлен</a:t>
            </a:r>
            <a:endParaRPr lang="en-US" sz="1400" dirty="0"/>
          </a:p>
        </p:txBody>
      </p:sp>
      <p:sp>
        <p:nvSpPr>
          <p:cNvPr id="6" name="sec-1-card"/>
          <p:cNvSpPr/>
          <p:nvPr/>
        </p:nvSpPr>
        <p:spPr>
          <a:xfrm>
            <a:off x="6172200" y="132588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7" name="sec-1-head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Trivy: образы Docker</a:t>
            </a:r>
            <a:endParaRPr lang="en-US" sz="1700" dirty="0"/>
          </a:p>
        </p:txBody>
      </p:sp>
      <p:sp>
        <p:nvSpPr>
          <p:cNvPr id="8" name="sec-1-body"/>
          <p:cNvSpPr txBox="1"/>
          <p:nvPr/>
        </p:nvSpPr>
        <p:spPr>
          <a:xfrm>
            <a:off x="640080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E4C59"/>
                </a:solidFill>
              </a:rPr>
              <a:t>было 44 High в образе web, стало 0</a:t>
            </a:r>
            <a:endParaRPr lang="en-US" sz="1400" dirty="0"/>
          </a:p>
        </p:txBody>
      </p:sp>
      <p:sp>
        <p:nvSpPr>
          <p:cNvPr id="9" name="sec-2-card"/>
          <p:cNvSpPr/>
          <p:nvPr/>
        </p:nvSpPr>
        <p:spPr>
          <a:xfrm>
            <a:off x="548640" y="288036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10" name="sec-2-head"/>
          <p:cNvSpPr txBox="1"/>
          <p:nvPr/>
        </p:nvSpPr>
        <p:spPr>
          <a:xfrm>
            <a:off x="77724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gosec и golangci-lint</a:t>
            </a:r>
            <a:endParaRPr lang="en-US" sz="1700" dirty="0"/>
          </a:p>
        </p:txBody>
      </p:sp>
      <p:sp>
        <p:nvSpPr>
          <p:cNvPr id="11" name="sec-2-body"/>
          <p:cNvSpPr txBox="1"/>
          <p:nvPr/>
        </p:nvSpPr>
        <p:spPr>
          <a:xfrm>
            <a:off x="777240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E4C59"/>
                </a:solidFill>
              </a:rPr>
              <a:t>0 находок; линтер нашёл подмену X-Real-IP</a:t>
            </a:r>
            <a:endParaRPr lang="en-US" sz="1400" dirty="0"/>
          </a:p>
        </p:txBody>
      </p:sp>
      <p:sp>
        <p:nvSpPr>
          <p:cNvPr id="12" name="sec-3-card"/>
          <p:cNvSpPr/>
          <p:nvPr/>
        </p:nvSpPr>
        <p:spPr>
          <a:xfrm>
            <a:off x="6172200" y="288036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13" name="sec-3-head"/>
          <p:cNvSpPr txBox="1"/>
          <p:nvPr/>
        </p:nvSpPr>
        <p:spPr>
          <a:xfrm>
            <a:off x="640080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govulncheck и npm audit</a:t>
            </a:r>
            <a:endParaRPr lang="en-US" sz="1700" dirty="0"/>
          </a:p>
        </p:txBody>
      </p:sp>
      <p:sp>
        <p:nvSpPr>
          <p:cNvPr id="14" name="sec-3-body"/>
          <p:cNvSpPr txBox="1"/>
          <p:nvPr/>
        </p:nvSpPr>
        <p:spPr>
          <a:xfrm>
            <a:off x="6400800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E4C59"/>
                </a:solidFill>
              </a:rPr>
              <a:t>0 уязвимостей, достижимых из кода</a:t>
            </a:r>
            <a:endParaRPr lang="en-US" sz="1400" dirty="0"/>
          </a:p>
        </p:txBody>
      </p:sp>
      <p:sp>
        <p:nvSpPr>
          <p:cNvPr id="15" name="sec-4-card"/>
          <p:cNvSpPr/>
          <p:nvPr/>
        </p:nvSpPr>
        <p:spPr>
          <a:xfrm>
            <a:off x="548640" y="443484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16" name="sec-4-head"/>
          <p:cNvSpPr txBox="1"/>
          <p:nvPr/>
        </p:nvSpPr>
        <p:spPr>
          <a:xfrm>
            <a:off x="77724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Тесты атак</a:t>
            </a:r>
            <a:endParaRPr lang="en-US" sz="1700" dirty="0"/>
          </a:p>
        </p:txBody>
      </p:sp>
      <p:sp>
        <p:nvSpPr>
          <p:cNvPr id="17" name="sec-4-body"/>
          <p:cNvSpPr txBox="1"/>
          <p:nvPr/>
        </p:nvSpPr>
        <p:spPr>
          <a:xfrm>
            <a:off x="777240" y="5166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E4C59"/>
                </a:solidFill>
              </a:rPr>
              <a:t>SQL-инъекция, XSS, CSRF, подделка JWT, повтор refresh-токена</a:t>
            </a:r>
            <a:endParaRPr lang="en-US" sz="1400" dirty="0"/>
          </a:p>
        </p:txBody>
      </p:sp>
      <p:sp>
        <p:nvSpPr>
          <p:cNvPr id="18" name="sec-5-card"/>
          <p:cNvSpPr/>
          <p:nvPr/>
        </p:nvSpPr>
        <p:spPr>
          <a:xfrm>
            <a:off x="6172200" y="443484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19" name="sec-5-head"/>
          <p:cNvSpPr txBox="1"/>
          <p:nvPr/>
        </p:nvSpPr>
        <p:spPr>
          <a:xfrm>
            <a:off x="640080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Защиты</a:t>
            </a:r>
            <a:endParaRPr lang="en-US" sz="1700" dirty="0"/>
          </a:p>
        </p:txBody>
      </p:sp>
      <p:sp>
        <p:nvSpPr>
          <p:cNvPr id="20" name="sec-5-body"/>
          <p:cNvSpPr txBox="1"/>
          <p:nvPr/>
        </p:nvSpPr>
        <p:spPr>
          <a:xfrm>
            <a:off x="6400800" y="5166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E4C59"/>
                </a:solidFill>
              </a:rPr>
              <a:t>bcrypt, CSP, HSTS, rate limit входа, валидация по OpenAPI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Найдено и исправлено 15 дефектов</a:t>
            </a:r>
            <a:endParaRPr lang="en-US" sz="3200" dirty="0"/>
          </a:p>
        </p:txBody>
      </p:sp>
      <p:graphicFrame>
        <p:nvGraphicFramePr>
          <p:cNvPr id="3" name="bugs-chart" descr=""/>
          <p:cNvGraphicFramePr/>
          <p:nvPr/>
        </p:nvGraphicFramePr>
        <p:xfrm>
          <a:off x="548640" y="128016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ugs-top-card"/>
          <p:cNvSpPr/>
          <p:nvPr/>
        </p:nvSpPr>
        <p:spPr>
          <a:xfrm>
            <a:off x="7589520" y="1371600"/>
            <a:ext cx="4023360" cy="438912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 w="9525">
            <a:solidFill>
              <a:srgbClr val="D5DEE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3">
                <a:alpha val="35000"/>
              </a:srgbClr>
            </a:outerShdw>
          </a:effectLst>
        </p:spPr>
      </p:sp>
      <p:sp>
        <p:nvSpPr>
          <p:cNvPr id="5" name="bugs-top-chip"/>
          <p:cNvSpPr txBox="1"/>
          <p:nvPr/>
        </p:nvSpPr>
        <p:spPr>
          <a:xfrm>
            <a:off x="7818120" y="1600200"/>
            <a:ext cx="2212848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Самые важные</a:t>
            </a:r>
            <a:endParaRPr lang="en-US" sz="1100" dirty="0"/>
          </a:p>
        </p:txBody>
      </p:sp>
      <p:sp>
        <p:nvSpPr>
          <p:cNvPr id="6" name="bugs-top-body"/>
          <p:cNvSpPr txBox="1"/>
          <p:nvPr/>
        </p:nvSpPr>
        <p:spPr>
          <a:xfrm>
            <a:off x="7818120" y="2057400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E4C59"/>
                </a:solidFill>
              </a:rPr>
              <a:t>Поиск возвращал пустой список: пустой массив уходил в SQL как NULL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E4C59"/>
                </a:solidFill>
              </a:rPr>
              <a:t>Под нагрузкой Nginx исчерпывал порты — 31,7 % ошибок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E4C59"/>
                </a:solidFill>
              </a:rPr>
              <a:t>Загрузка файлов падала в Docker из-за прав на том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E4C59"/>
                </a:solidFill>
              </a:rPr>
              <a:t>Rate limit входа обходился подменой X-Real-IP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CI/CD: от пуша до production без ручных шагов</a:t>
            </a:r>
            <a:endParaRPr lang="en-US" sz="3200" dirty="0"/>
          </a:p>
        </p:txBody>
      </p:sp>
      <p:sp>
        <p:nvSpPr>
          <p:cNvPr id="3" name="stage-0"/>
          <p:cNvSpPr txBox="1"/>
          <p:nvPr/>
        </p:nvSpPr>
        <p:spPr>
          <a:xfrm>
            <a:off x="548640" y="1828800"/>
            <a:ext cx="1261872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Lint</a:t>
            </a:r>
            <a:endParaRPr lang="en-US" sz="1400" dirty="0"/>
          </a:p>
        </p:txBody>
      </p:sp>
      <p:sp>
        <p:nvSpPr>
          <p:cNvPr id="4" name="stage-arrow-0"/>
          <p:cNvSpPr/>
          <p:nvPr/>
        </p:nvSpPr>
        <p:spPr>
          <a:xfrm>
            <a:off x="1810512" y="2331720"/>
            <a:ext cx="1371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5" name="stage-1"/>
          <p:cNvSpPr txBox="1"/>
          <p:nvPr/>
        </p:nvSpPr>
        <p:spPr>
          <a:xfrm>
            <a:off x="1947672" y="1828800"/>
            <a:ext cx="1261872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Unit</a:t>
            </a:r>
            <a:endParaRPr lang="en-US" sz="1400" dirty="0"/>
          </a:p>
        </p:txBody>
      </p:sp>
      <p:sp>
        <p:nvSpPr>
          <p:cNvPr id="6" name="stage-arrow-1"/>
          <p:cNvSpPr/>
          <p:nvPr/>
        </p:nvSpPr>
        <p:spPr>
          <a:xfrm>
            <a:off x="3209544" y="2331720"/>
            <a:ext cx="1371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7" name="stage-2"/>
          <p:cNvSpPr txBox="1"/>
          <p:nvPr/>
        </p:nvSpPr>
        <p:spPr>
          <a:xfrm>
            <a:off x="3346704" y="1828800"/>
            <a:ext cx="1261872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Build</a:t>
            </a:r>
            <a:endParaRPr lang="en-US" sz="1400" dirty="0"/>
          </a:p>
        </p:txBody>
      </p:sp>
      <p:sp>
        <p:nvSpPr>
          <p:cNvPr id="8" name="stage-arrow-2"/>
          <p:cNvSpPr/>
          <p:nvPr/>
        </p:nvSpPr>
        <p:spPr>
          <a:xfrm>
            <a:off x="4608576" y="2331720"/>
            <a:ext cx="1371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9" name="stage-3"/>
          <p:cNvSpPr txBox="1"/>
          <p:nvPr/>
        </p:nvSpPr>
        <p:spPr>
          <a:xfrm>
            <a:off x="4745736" y="1828800"/>
            <a:ext cx="1261872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Integration</a:t>
            </a:r>
            <a:endParaRPr lang="en-US" sz="1400" dirty="0"/>
          </a:p>
        </p:txBody>
      </p:sp>
      <p:sp>
        <p:nvSpPr>
          <p:cNvPr id="10" name="stage-arrow-3"/>
          <p:cNvSpPr/>
          <p:nvPr/>
        </p:nvSpPr>
        <p:spPr>
          <a:xfrm>
            <a:off x="6007608" y="2331720"/>
            <a:ext cx="1371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1" name="stage-4"/>
          <p:cNvSpPr txBox="1"/>
          <p:nvPr/>
        </p:nvSpPr>
        <p:spPr>
          <a:xfrm>
            <a:off x="6144768" y="1828800"/>
            <a:ext cx="1261872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E2E × 3, API</a:t>
            </a:r>
            <a:endParaRPr lang="en-US" sz="1400" dirty="0"/>
          </a:p>
        </p:txBody>
      </p:sp>
      <p:sp>
        <p:nvSpPr>
          <p:cNvPr id="12" name="stage-arrow-4"/>
          <p:cNvSpPr/>
          <p:nvPr/>
        </p:nvSpPr>
        <p:spPr>
          <a:xfrm>
            <a:off x="7406640" y="2331720"/>
            <a:ext cx="1371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3" name="stage-5"/>
          <p:cNvSpPr txBox="1"/>
          <p:nvPr/>
        </p:nvSpPr>
        <p:spPr>
          <a:xfrm>
            <a:off x="7543800" y="1828800"/>
            <a:ext cx="1261872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Security</a:t>
            </a:r>
            <a:endParaRPr lang="en-US" sz="1400" dirty="0"/>
          </a:p>
        </p:txBody>
      </p:sp>
      <p:sp>
        <p:nvSpPr>
          <p:cNvPr id="14" name="stage-arrow-5"/>
          <p:cNvSpPr/>
          <p:nvPr/>
        </p:nvSpPr>
        <p:spPr>
          <a:xfrm>
            <a:off x="8805672" y="2331720"/>
            <a:ext cx="1371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5" name="stage-6"/>
          <p:cNvSpPr txBox="1"/>
          <p:nvPr/>
        </p:nvSpPr>
        <p:spPr>
          <a:xfrm>
            <a:off x="8942832" y="1828800"/>
            <a:ext cx="1261872" cy="100584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Staging</a:t>
            </a:r>
            <a:endParaRPr lang="en-US" sz="1400" dirty="0"/>
          </a:p>
        </p:txBody>
      </p:sp>
      <p:sp>
        <p:nvSpPr>
          <p:cNvPr id="16" name="stage-arrow-6"/>
          <p:cNvSpPr/>
          <p:nvPr/>
        </p:nvSpPr>
        <p:spPr>
          <a:xfrm>
            <a:off x="10204704" y="2331720"/>
            <a:ext cx="137160" cy="0"/>
          </a:xfrm>
          <a:prstGeom prst="line">
            <a:avLst/>
          </a:prstGeom>
          <a:noFill/>
          <a:ln w="19050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7" name="stage-7"/>
          <p:cNvSpPr txBox="1"/>
          <p:nvPr/>
        </p:nvSpPr>
        <p:spPr>
          <a:xfrm>
            <a:off x="10341864" y="1828800"/>
            <a:ext cx="1261872" cy="1005840"/>
          </a:xfrm>
          <a:prstGeom prst="roundRect">
            <a:avLst>
              <a:gd name="adj" fmla="val 7273"/>
            </a:avLst>
          </a:prstGeom>
          <a:solidFill>
            <a:srgbClr val="0B3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18" name="cicd-notes"/>
          <p:cNvSpPr txBox="1"/>
          <p:nvPr/>
        </p:nvSpPr>
        <p:spPr>
          <a:xfrm>
            <a:off x="548640" y="33832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Пуш в develop выкатывает staging, пуш в main — staging, затем production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Деплой по SSH на VPS: образы из GHCR, проверка здоровья, откат на прошлую версию при сбое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Артефакты сборки: покрытие, отчёты Playwright с трассировками, Newman, ZAP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Нагрузочный тест staging — раз в неделю и по кнопке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Итоги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Kanban-доска со всеми функциями из задания и обновлением в реальном времени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276 автотестов, покрытие 94 % / 91 %, CI/CD до production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15 найденных и исправленных дефектов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Открыто: развёртывание на VPS и порог 200 мс при 1000 пользователях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nban Lab">
  <a:themeElements>
    <a:clrScheme name="Kanban Lab">
      <a:dk1>
        <a:srgbClr val="1F2933"/>
      </a:dk1>
      <a:lt1>
        <a:srgbClr val="FFFFFF"/>
      </a:lt1>
      <a:dk2>
        <a:srgbClr val="0B3C49"/>
      </a:dk2>
      <a:lt2>
        <a:srgbClr val="EEF3F5"/>
      </a:lt2>
      <a:accent1>
        <a:srgbClr val="0F766E"/>
      </a:accent1>
      <a:accent2>
        <a:srgbClr val="F59E0B"/>
      </a:accent2>
      <a:accent3>
        <a:srgbClr val="DC2626"/>
      </a:accent3>
      <a:accent4>
        <a:srgbClr val="2563EB"/>
      </a:accent4>
      <a:accent5>
        <a:srgbClr val="16A34A"/>
      </a:accent5>
      <a:accent6>
        <a:srgbClr val="7C3AED"/>
      </a:accent6>
      <a:hlink>
        <a:srgbClr val="0F766E"/>
      </a:hlink>
      <a:folHlink>
        <a:srgbClr val="0B3C49"/>
      </a:folHlink>
    </a:clrScheme>
    <a:fontScheme name="Kanban 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Kanban-доска и полный цикл тестирования</dc:title>
  <dc:subject>PptxGenJS Presentation</dc:subject>
  <dc:creator>Студент группы 360</dc:creator>
  <cp:lastModifiedBy>Студент группы 360</cp:lastModifiedBy>
  <cp:revision>1</cp:revision>
  <dcterms:created xsi:type="dcterms:W3CDTF">2026-10-15T11:01:25Z</dcterms:created>
  <dcterms:modified xsi:type="dcterms:W3CDTF">2026-10-15T11:01:25Z</dcterms:modified>
</cp:coreProperties>
</file>